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Fredoka" panose="020B0604020202020204" charset="-79"/>
      <p:regular r:id="rId22"/>
      <p:bold r:id="rId23"/>
    </p:embeddedFont>
    <p:embeddedFont>
      <p:font typeface="Fredoka SemiBold" panose="020B0604020202020204" charset="-79"/>
      <p:regular r:id="rId24"/>
      <p:bold r:id="rId25"/>
    </p:embeddedFont>
    <p:embeddedFont>
      <p:font typeface="Nunito" panose="020F0502020204030204" pitchFamily="2" charset="0"/>
      <p:regular r:id="rId26"/>
      <p:bold r:id="rId27"/>
      <p:italic r:id="rId28"/>
      <p:boldItalic r:id="rId29"/>
    </p:embeddedFont>
    <p:embeddedFont>
      <p:font typeface="Nunito Black" panose="020F0502020204030204" pitchFamily="2" charset="0"/>
      <p:bold r:id="rId30"/>
      <p:boldItalic r:id="rId31"/>
    </p:embeddedFont>
    <p:embeddedFont>
      <p:font typeface="Nunito ExtraBold" panose="020F0502020204030204" pitchFamily="2" charset="0"/>
      <p:bold r:id="rId32"/>
      <p:boldItalic r:id="rId33"/>
    </p:embeddedFont>
    <p:embeddedFont>
      <p:font typeface="Nunito Medium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4A95A3-AC9F-4311-9C60-27C67D7C251C}">
  <a:tblStyle styleId="{F94A95A3-AC9F-4311-9C60-27C67D7C25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144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e1b2d83ae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e1b2d83ae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e1b2d83ae_14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g3ae1b2d83ae_14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e1b2d83ae_14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ae1b2d83ae_14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e25a1c35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ae25a1c35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476250"/>
            <a:ext cx="11239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85686" y="1903712"/>
            <a:ext cx="5020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4F46E5"/>
                </a:solidFill>
                <a:latin typeface="Fredoka"/>
                <a:ea typeface="Fredoka"/>
                <a:cs typeface="Fredoka"/>
                <a:sym typeface="Fredoka"/>
              </a:rPr>
              <a:t>Kidzy Launcher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57487" y="3228987"/>
            <a:ext cx="6677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718096"/>
                </a:solidFill>
                <a:latin typeface="Nunito"/>
                <a:ea typeface="Nunito"/>
                <a:cs typeface="Nunito"/>
                <a:sym typeface="Nunito"/>
              </a:rPr>
              <a:t>A Safe, Interactive, and Educational Digital Environment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238" y="257850"/>
            <a:ext cx="143827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824850" y="4320600"/>
            <a:ext cx="45423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i="0" u="none" strike="noStrike" cap="none">
                <a:solidFill>
                  <a:srgbClr val="64748B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GROUP </a:t>
            </a:r>
            <a:r>
              <a:rPr lang="en-US" sz="1750">
                <a:solidFill>
                  <a:srgbClr val="64748B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4</a:t>
            </a:r>
            <a:endParaRPr sz="18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keep it in original format. Also I dont want a picure I just need each problem in a box in the middle of the p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359825" y="6237825"/>
            <a:ext cx="2730600" cy="39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8FA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25575" y="506550"/>
            <a:ext cx="301800" cy="426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1890712"/>
            <a:ext cx="520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4F46E5"/>
                </a:solidFill>
                <a:latin typeface="Fredoka"/>
                <a:ea typeface="Fredoka"/>
                <a:cs typeface="Fredoka"/>
                <a:sym typeface="Fredoka"/>
              </a:rPr>
              <a:t>What is Kidzy?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68128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Kidzy is a </a:t>
            </a:r>
            <a:r>
              <a:rPr lang="en-US" sz="150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Launcher Application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that completely replaces the standard home screen interface.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3633787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It transforms the device into a customized, child-friendly sandbox. It allows parents to control the environment remotely while providing kids with a fun, gamified AI assistant.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4">
            <a:alphaModFix/>
          </a:blip>
          <a:srcRect l="5555" r="5555"/>
          <a:stretch/>
        </p:blipFill>
        <p:spPr>
          <a:xfrm>
            <a:off x="6096000" y="0"/>
            <a:ext cx="6096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186" y="1253875"/>
            <a:ext cx="10695225" cy="133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75" y="3984800"/>
            <a:ext cx="5321875" cy="122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79700" y="3984800"/>
            <a:ext cx="5157275" cy="122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3925" y="16319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50" y="288575"/>
            <a:ext cx="12051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1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Our Philosophy  </a:t>
            </a:r>
            <a:endParaRPr b="1" i="1"/>
          </a:p>
        </p:txBody>
      </p:sp>
      <p:sp>
        <p:nvSpPr>
          <p:cNvPr id="116" name="Google Shape;116;p16"/>
          <p:cNvSpPr/>
          <p:nvPr/>
        </p:nvSpPr>
        <p:spPr>
          <a:xfrm>
            <a:off x="476250" y="1057275"/>
            <a:ext cx="11239500" cy="285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875288" y="1459094"/>
            <a:ext cx="1045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Kidzy is a partner, not a parent</a:t>
            </a:r>
            <a:endParaRPr sz="5000"/>
          </a:p>
        </p:txBody>
      </p:sp>
      <p:sp>
        <p:nvSpPr>
          <p:cNvPr id="118" name="Google Shape;118;p16"/>
          <p:cNvSpPr txBox="1"/>
          <p:nvPr/>
        </p:nvSpPr>
        <p:spPr>
          <a:xfrm>
            <a:off x="-660748" y="4365800"/>
            <a:ext cx="8011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An Active Space, Not a cage</a:t>
            </a:r>
            <a:endParaRPr sz="2700"/>
          </a:p>
        </p:txBody>
      </p:sp>
      <p:sp>
        <p:nvSpPr>
          <p:cNvPr id="119" name="Google Shape;119;p16"/>
          <p:cNvSpPr txBox="1"/>
          <p:nvPr/>
        </p:nvSpPr>
        <p:spPr>
          <a:xfrm>
            <a:off x="4895502" y="4386625"/>
            <a:ext cx="8011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 Mentor, Not a Monitor</a:t>
            </a:r>
            <a:endParaRPr sz="27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38362"/>
            <a:ext cx="36195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138362"/>
            <a:ext cx="36195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138362"/>
            <a:ext cx="36195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95788" y="3321312"/>
            <a:ext cx="3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Safe Digital Environment</a:t>
            </a:r>
            <a:endParaRPr sz="2000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676275" y="3395662"/>
            <a:ext cx="321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76275" y="4157662"/>
            <a:ext cx="32196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676275" y="4367212"/>
            <a:ext cx="321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346025" y="3321312"/>
            <a:ext cx="338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Educational Growth</a:t>
            </a:r>
            <a:endParaRPr sz="2000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486275" y="4157662"/>
            <a:ext cx="32196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8296125" y="3349462"/>
            <a:ext cx="321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Healthy Digital Habits</a:t>
            </a:r>
            <a:endParaRPr sz="2000"/>
          </a:p>
        </p:txBody>
      </p:sp>
      <p:sp>
        <p:nvSpPr>
          <p:cNvPr id="135" name="Google Shape;135;p17"/>
          <p:cNvSpPr/>
          <p:nvPr/>
        </p:nvSpPr>
        <p:spPr>
          <a:xfrm>
            <a:off x="8296275" y="4138462"/>
            <a:ext cx="3219600" cy="1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3150" b="1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Objectives</a:t>
            </a:r>
            <a:endParaRPr b="1"/>
          </a:p>
        </p:txBody>
      </p:sp>
      <p:sp>
        <p:nvSpPr>
          <p:cNvPr id="137" name="Google Shape;137;p17"/>
          <p:cNvSpPr/>
          <p:nvPr/>
        </p:nvSpPr>
        <p:spPr>
          <a:xfrm>
            <a:off x="476250" y="1057275"/>
            <a:ext cx="11239500" cy="285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Stakeholders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476250" y="1057275"/>
            <a:ext cx="11239500" cy="28575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7995" y="1782442"/>
            <a:ext cx="2279450" cy="2189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5900" y="4433000"/>
            <a:ext cx="2433000" cy="218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54425" y="4433000"/>
            <a:ext cx="2433000" cy="218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6520" y="1782454"/>
            <a:ext cx="2279450" cy="218947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3029250" y="2495425"/>
            <a:ext cx="21120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Parent</a:t>
            </a:r>
            <a:endParaRPr sz="2500" b="1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966600" y="2495125"/>
            <a:ext cx="19671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Child</a:t>
            </a:r>
            <a:endParaRPr sz="2500" b="1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1203875" y="5083400"/>
            <a:ext cx="25341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Development Team</a:t>
            </a:r>
            <a:endParaRPr sz="2000" b="1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551800" y="2722900"/>
            <a:ext cx="2279400" cy="12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591597" y="5002400"/>
            <a:ext cx="2651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Psychologists &amp; Educational Experts</a:t>
            </a:r>
            <a:endParaRPr sz="2000" b="1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2634" y="4433000"/>
            <a:ext cx="2433000" cy="218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8098518" y="5002400"/>
            <a:ext cx="26511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Policy &amp; Compliance Experts</a:t>
            </a:r>
            <a:endParaRPr sz="2000" b="1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548066" y="5646644"/>
            <a:ext cx="1887600" cy="28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8454407" y="5861894"/>
            <a:ext cx="1887600" cy="28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038782" y="3029869"/>
            <a:ext cx="1887600" cy="28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010757" y="5861894"/>
            <a:ext cx="1887600" cy="28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145057" y="3029869"/>
            <a:ext cx="1887600" cy="285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71675"/>
            <a:ext cx="5429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476250" y="2105025"/>
            <a:ext cx="5700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Essential Functions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2124075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143000" y="2532300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FR1: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System shall replace the default home screen.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143000" y="3054504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FR2: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Parent must be able to whitelist/blacklist apps.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143000" y="3576708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FR3: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System shall enforce daily screen time limits.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143000" y="4098912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FR4: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Child can customize their AI avatar.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143000" y="4621117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FR5: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500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Allow parents to send texts and reminders.</a:t>
            </a:r>
            <a:endParaRPr sz="1800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Functional Requirements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476250" y="1057275"/>
            <a:ext cx="11239500" cy="28575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558410"/>
            <a:ext cx="171450" cy="27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080614"/>
            <a:ext cx="171450" cy="27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602818"/>
            <a:ext cx="171450" cy="27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125023"/>
            <a:ext cx="171450" cy="27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647227"/>
            <a:ext cx="171450" cy="27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title="unnamed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6518" y="1971675"/>
            <a:ext cx="5368307" cy="3884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5306509"/>
            <a:ext cx="171450" cy="27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6068143"/>
            <a:ext cx="171450" cy="27415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028700" y="5143321"/>
            <a:ext cx="52578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FR6</a:t>
            </a:r>
            <a:r>
              <a:rPr lang="en-US" sz="1500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: Enable the AI assistant to provide helpful reminders and warnings</a:t>
            </a:r>
            <a:r>
              <a:rPr lang="en-US" sz="1500"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500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009196" y="5930993"/>
            <a:ext cx="47625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 b="1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FR7:</a:t>
            </a:r>
            <a:r>
              <a:rPr lang="en-US" sz="1500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Include built-in educational tools.</a:t>
            </a:r>
            <a:endParaRPr sz="2200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624137"/>
            <a:ext cx="36195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624137"/>
            <a:ext cx="36195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24137"/>
            <a:ext cx="361950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95788" y="3414712"/>
            <a:ext cx="338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Security </a:t>
            </a:r>
            <a:r>
              <a:rPr lang="en-US" sz="1800" b="1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&amp; Privacy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76275" y="3881437"/>
            <a:ext cx="3219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Parent PIN must be encrypted. Child cannot uninstall the launcher without Admin credentials.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405788" y="3414712"/>
            <a:ext cx="338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Performance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4486275" y="3881437"/>
            <a:ext cx="3219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Launcher must load in &lt; 2 seconds. Battery consumption must not exceed 5% per hour.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215788" y="3414712"/>
            <a:ext cx="338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Usability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296275" y="3881437"/>
            <a:ext cx="3219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UI buttons large (min 48px) for children. Text must be readable.</a:t>
            </a:r>
            <a:endParaRPr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28432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28432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9312" y="28432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Non-Functional Requirements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476250" y="1057275"/>
            <a:ext cx="11239500" cy="28575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300200"/>
            <a:ext cx="11239500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238050" y="302475"/>
            <a:ext cx="11715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The Use Case Model Diagram</a:t>
            </a:r>
            <a:endParaRPr sz="1100"/>
          </a:p>
        </p:txBody>
      </p:sp>
      <p:sp>
        <p:nvSpPr>
          <p:cNvPr id="212" name="Google Shape;212;p21"/>
          <p:cNvSpPr/>
          <p:nvPr/>
        </p:nvSpPr>
        <p:spPr>
          <a:xfrm rot="10800000" flipH="1">
            <a:off x="238050" y="808250"/>
            <a:ext cx="4832100" cy="32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8775" y="115012"/>
            <a:ext cx="6026976" cy="662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674991" y="1638225"/>
            <a:ext cx="46242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Parent controls apps and schedules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62978" y="2606850"/>
            <a:ext cx="4864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Child accesses apps and receives messages.</a:t>
            </a:r>
            <a:endParaRPr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62980" y="3840696"/>
            <a:ext cx="46242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AI Assistant monitors and suggests.</a:t>
            </a:r>
            <a:endParaRPr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47225" y="5037997"/>
            <a:ext cx="4624200" cy="8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System Admin maintains the system.</a:t>
            </a:r>
            <a:endParaRPr sz="2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975" y="1793583"/>
            <a:ext cx="211850" cy="2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975" y="2756558"/>
            <a:ext cx="211850" cy="2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975" y="3991658"/>
            <a:ext cx="211850" cy="2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975" y="5195358"/>
            <a:ext cx="211850" cy="2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7900" y="-4286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6286500" y="2905125"/>
            <a:ext cx="570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953250" y="3267075"/>
            <a:ext cx="476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953250" y="3648075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4A556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6953250" y="4029075"/>
            <a:ext cx="476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953250" y="4410075"/>
            <a:ext cx="476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-113400" y="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UML Class Diagram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-67900" y="503527"/>
            <a:ext cx="11239500" cy="285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850" y="568250"/>
            <a:ext cx="10652899" cy="624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685800" y="3629025"/>
            <a:ext cx="30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85800" y="4657725"/>
            <a:ext cx="4953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0" y="0"/>
            <a:ext cx="117159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Object Diagram</a:t>
            </a:r>
            <a:endParaRPr sz="900"/>
          </a:p>
        </p:txBody>
      </p:sp>
      <p:sp>
        <p:nvSpPr>
          <p:cNvPr id="243" name="Google Shape;243;p23"/>
          <p:cNvSpPr/>
          <p:nvPr/>
        </p:nvSpPr>
        <p:spPr>
          <a:xfrm>
            <a:off x="82775" y="408000"/>
            <a:ext cx="2172600" cy="79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1675" y="259400"/>
            <a:ext cx="9762275" cy="65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6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-11825" y="0"/>
            <a:ext cx="11715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 </a:t>
            </a:r>
            <a:r>
              <a:rPr lang="en-US" sz="16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Sequence: </a:t>
            </a:r>
            <a:r>
              <a:rPr lang="en-US" sz="1600" i="1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AI Educational Suggestions</a:t>
            </a:r>
            <a:r>
              <a:rPr lang="en-US" sz="1600" b="1" i="1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endParaRPr sz="1600" b="1">
              <a:solidFill>
                <a:srgbClr val="2D3748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80425" y="265925"/>
            <a:ext cx="11635200" cy="285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4" title="seq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4925" y="286725"/>
            <a:ext cx="9077432" cy="6571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53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0" y="0"/>
            <a:ext cx="1171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Sequence: </a:t>
            </a:r>
            <a:r>
              <a:rPr lang="en-US" sz="1550" i="1">
                <a:solidFill>
                  <a:srgbClr val="17365D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Send &amp; Receive Parent Reminder</a:t>
            </a:r>
            <a:endParaRPr sz="1550">
              <a:latin typeface="Fredoka SemiBold"/>
              <a:ea typeface="Fredoka SemiBold"/>
              <a:cs typeface="Fredoka SemiBold"/>
              <a:sym typeface="Fredoka SemiBold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0525" y="253150"/>
            <a:ext cx="9468900" cy="591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25" title="seq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2850" y="429000"/>
            <a:ext cx="8289024" cy="661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0" y="0"/>
            <a:ext cx="117159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 </a:t>
            </a:r>
            <a:r>
              <a:rPr lang="en-US" sz="15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State Diagram</a:t>
            </a:r>
            <a:r>
              <a:rPr lang="en-US" sz="1550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: Screen Time Schedule</a:t>
            </a:r>
            <a:endParaRPr sz="100"/>
          </a:p>
        </p:txBody>
      </p:sp>
      <p:sp>
        <p:nvSpPr>
          <p:cNvPr id="267" name="Google Shape;267;p26"/>
          <p:cNvSpPr/>
          <p:nvPr/>
        </p:nvSpPr>
        <p:spPr>
          <a:xfrm>
            <a:off x="0" y="238500"/>
            <a:ext cx="10812000" cy="549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6621" y="293475"/>
            <a:ext cx="8404103" cy="656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61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0" y="0"/>
            <a:ext cx="117159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       </a:t>
            </a:r>
            <a:r>
              <a:rPr lang="en-US" sz="19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Activity Diagram</a:t>
            </a:r>
            <a:endParaRPr sz="200"/>
          </a:p>
        </p:txBody>
      </p:sp>
      <p:sp>
        <p:nvSpPr>
          <p:cNvPr id="275" name="Google Shape;275;p27"/>
          <p:cNvSpPr/>
          <p:nvPr/>
        </p:nvSpPr>
        <p:spPr>
          <a:xfrm>
            <a:off x="471025" y="309100"/>
            <a:ext cx="10753800" cy="51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275" y="360075"/>
            <a:ext cx="10148650" cy="63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84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8"/>
          <p:cNvSpPr txBox="1"/>
          <p:nvPr/>
        </p:nvSpPr>
        <p:spPr>
          <a:xfrm>
            <a:off x="-433050" y="3131947"/>
            <a:ext cx="34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Why A Launcher ?</a:t>
            </a:r>
            <a:endParaRPr/>
          </a:p>
        </p:txBody>
      </p:sp>
      <p:sp>
        <p:nvSpPr>
          <p:cNvPr id="283" name="Google Shape;283;p28"/>
          <p:cNvSpPr txBox="1"/>
          <p:nvPr/>
        </p:nvSpPr>
        <p:spPr>
          <a:xfrm>
            <a:off x="464425" y="1714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System Architecture</a:t>
            </a:r>
            <a:endParaRPr/>
          </a:p>
        </p:txBody>
      </p:sp>
      <p:sp>
        <p:nvSpPr>
          <p:cNvPr id="284" name="Google Shape;284;p28"/>
          <p:cNvSpPr/>
          <p:nvPr/>
        </p:nvSpPr>
        <p:spPr>
          <a:xfrm rot="10800000" flipH="1">
            <a:off x="464425" y="728775"/>
            <a:ext cx="3721800" cy="237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28"/>
          <p:cNvGraphicFramePr/>
          <p:nvPr/>
        </p:nvGraphicFramePr>
        <p:xfrm>
          <a:off x="215825" y="3548725"/>
          <a:ext cx="6478150" cy="2787943"/>
        </p:xfrm>
        <a:graphic>
          <a:graphicData uri="http://schemas.openxmlformats.org/drawingml/2006/table">
            <a:tbl>
              <a:tblPr>
                <a:noFill/>
                <a:tableStyleId>{F94A95A3-AC9F-4311-9C60-27C67D7C251C}</a:tableStyleId>
              </a:tblPr>
              <a:tblGrid>
                <a:gridCol w="140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latin typeface="Nunito"/>
                          <a:ea typeface="Nunito"/>
                          <a:cs typeface="Nunito"/>
                          <a:sym typeface="Nunito"/>
                        </a:rPr>
                        <a:t>Features</a:t>
                      </a:r>
                      <a:endParaRPr sz="1300"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497D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</a:t>
                      </a:r>
                      <a:endParaRPr sz="1500" b="1">
                        <a:solidFill>
                          <a:srgbClr val="1F497D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4F81BD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Kidzy </a:t>
                      </a:r>
                      <a:r>
                        <a:rPr lang="en-US" sz="1500" b="1">
                          <a:solidFill>
                            <a:srgbClr val="1F497D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Launcher</a:t>
                      </a:r>
                      <a:endParaRPr sz="1500" b="1">
                        <a:solidFill>
                          <a:srgbClr val="1F497D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System Role</a:t>
                      </a:r>
                      <a:endParaRPr sz="1300"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accen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Just a app running on the phone.</a:t>
                      </a:r>
                      <a:endParaRPr sz="1000" b="1">
                        <a:solidFill>
                          <a:schemeClr val="accen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Manager of the device interface.</a:t>
                      </a:r>
                      <a:endParaRPr sz="1000" b="1">
                        <a:solidFill>
                          <a:schemeClr val="accent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Home Button</a:t>
                      </a:r>
                      <a:endParaRPr sz="1300"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accen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Exits the app and returns to the main screen.</a:t>
                      </a:r>
                      <a:endParaRPr sz="1000" b="1">
                        <a:solidFill>
                          <a:schemeClr val="accen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Reloads Kidzy (cant exit)</a:t>
                      </a:r>
                      <a:endParaRPr sz="1000" b="1">
                        <a:solidFill>
                          <a:schemeClr val="accent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Access Control</a:t>
                      </a:r>
                      <a:endParaRPr sz="1200"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accen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Cannot prevent opening other apps.</a:t>
                      </a:r>
                      <a:endParaRPr sz="1000" b="1">
                        <a:solidFill>
                          <a:schemeClr val="accen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Controls the door to all other apps</a:t>
                      </a:r>
                      <a:endParaRPr sz="1000" b="1">
                        <a:solidFill>
                          <a:schemeClr val="accent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Nunito Medium"/>
                          <a:ea typeface="Nunito Medium"/>
                          <a:cs typeface="Nunito Medium"/>
                          <a:sym typeface="Nunito Medium"/>
                        </a:rPr>
                        <a:t>Permissions</a:t>
                      </a:r>
                      <a:endParaRPr sz="1300">
                        <a:latin typeface="Nunito Medium"/>
                        <a:ea typeface="Nunito Medium"/>
                        <a:cs typeface="Nunito Medium"/>
                        <a:sym typeface="Nunito Medium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accen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Standard phone things(Camera, mic)</a:t>
                      </a:r>
                      <a:endParaRPr sz="1000" b="1">
                        <a:solidFill>
                          <a:schemeClr val="accen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level: device admin, system overlay</a:t>
                      </a:r>
                      <a:endParaRPr sz="1000" b="1">
                        <a:solidFill>
                          <a:schemeClr val="accent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68575" marR="68575" marT="91425" marB="91425">
                    <a:lnL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6" name="Google Shape;286;p28"/>
          <p:cNvSpPr txBox="1"/>
          <p:nvPr/>
        </p:nvSpPr>
        <p:spPr>
          <a:xfrm>
            <a:off x="712699" y="882783"/>
            <a:ext cx="3649800" cy="12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Client Server Model</a:t>
            </a:r>
            <a:endParaRPr sz="1500" dirty="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Offline Availability </a:t>
            </a:r>
            <a:endParaRPr sz="1500" dirty="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AI Core </a:t>
            </a:r>
            <a:endParaRPr sz="1300" dirty="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287" name="Google Shape;28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424" y="1139149"/>
            <a:ext cx="219700" cy="21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424" y="1599696"/>
            <a:ext cx="219700" cy="21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424" y="2049775"/>
            <a:ext cx="219700" cy="2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/>
          <p:nvPr/>
        </p:nvSpPr>
        <p:spPr>
          <a:xfrm rot="10800000" flipH="1">
            <a:off x="464425" y="2408494"/>
            <a:ext cx="6229500" cy="237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" name="Google Shape;291;p28"/>
          <p:cNvGrpSpPr/>
          <p:nvPr/>
        </p:nvGrpSpPr>
        <p:grpSpPr>
          <a:xfrm>
            <a:off x="7378008" y="121647"/>
            <a:ext cx="4405799" cy="6389295"/>
            <a:chOff x="7378008" y="121647"/>
            <a:chExt cx="4405799" cy="6389295"/>
          </a:xfrm>
        </p:grpSpPr>
        <p:grpSp>
          <p:nvGrpSpPr>
            <p:cNvPr id="292" name="Google Shape;292;p28"/>
            <p:cNvGrpSpPr/>
            <p:nvPr/>
          </p:nvGrpSpPr>
          <p:grpSpPr>
            <a:xfrm>
              <a:off x="7378008" y="121647"/>
              <a:ext cx="4405799" cy="6389295"/>
              <a:chOff x="7775733" y="132122"/>
              <a:chExt cx="4405799" cy="6389295"/>
            </a:xfrm>
          </p:grpSpPr>
          <p:grpSp>
            <p:nvGrpSpPr>
              <p:cNvPr id="293" name="Google Shape;293;p28"/>
              <p:cNvGrpSpPr/>
              <p:nvPr/>
            </p:nvGrpSpPr>
            <p:grpSpPr>
              <a:xfrm>
                <a:off x="7775733" y="132122"/>
                <a:ext cx="4405799" cy="6389295"/>
                <a:chOff x="7775733" y="132122"/>
                <a:chExt cx="4405799" cy="6389295"/>
              </a:xfrm>
            </p:grpSpPr>
            <p:grpSp>
              <p:nvGrpSpPr>
                <p:cNvPr id="294" name="Google Shape;294;p28"/>
                <p:cNvGrpSpPr/>
                <p:nvPr/>
              </p:nvGrpSpPr>
              <p:grpSpPr>
                <a:xfrm>
                  <a:off x="7775733" y="132122"/>
                  <a:ext cx="4405799" cy="6389295"/>
                  <a:chOff x="7786200" y="226325"/>
                  <a:chExt cx="4405799" cy="6389295"/>
                </a:xfrm>
              </p:grpSpPr>
              <p:grpSp>
                <p:nvGrpSpPr>
                  <p:cNvPr id="295" name="Google Shape;295;p28"/>
                  <p:cNvGrpSpPr/>
                  <p:nvPr/>
                </p:nvGrpSpPr>
                <p:grpSpPr>
                  <a:xfrm>
                    <a:off x="7786200" y="226325"/>
                    <a:ext cx="4405799" cy="6389295"/>
                    <a:chOff x="7786200" y="226325"/>
                    <a:chExt cx="4405799" cy="6389295"/>
                  </a:xfrm>
                </p:grpSpPr>
                <p:grpSp>
                  <p:nvGrpSpPr>
                    <p:cNvPr id="296" name="Google Shape;296;p28"/>
                    <p:cNvGrpSpPr/>
                    <p:nvPr/>
                  </p:nvGrpSpPr>
                  <p:grpSpPr>
                    <a:xfrm>
                      <a:off x="7786200" y="226325"/>
                      <a:ext cx="4405799" cy="6389295"/>
                      <a:chOff x="7786200" y="226325"/>
                      <a:chExt cx="4405799" cy="6389295"/>
                    </a:xfrm>
                  </p:grpSpPr>
                  <p:grpSp>
                    <p:nvGrpSpPr>
                      <p:cNvPr id="297" name="Google Shape;297;p28"/>
                      <p:cNvGrpSpPr/>
                      <p:nvPr/>
                    </p:nvGrpSpPr>
                    <p:grpSpPr>
                      <a:xfrm>
                        <a:off x="7786200" y="226325"/>
                        <a:ext cx="4405799" cy="6389295"/>
                        <a:chOff x="7786200" y="226325"/>
                        <a:chExt cx="4405799" cy="6389295"/>
                      </a:xfrm>
                    </p:grpSpPr>
                    <p:grpSp>
                      <p:nvGrpSpPr>
                        <p:cNvPr id="298" name="Google Shape;298;p28"/>
                        <p:cNvGrpSpPr/>
                        <p:nvPr/>
                      </p:nvGrpSpPr>
                      <p:grpSpPr>
                        <a:xfrm>
                          <a:off x="7786200" y="226325"/>
                          <a:ext cx="4405799" cy="6389295"/>
                          <a:chOff x="7786200" y="226325"/>
                          <a:chExt cx="4405799" cy="6389295"/>
                        </a:xfrm>
                      </p:grpSpPr>
                      <p:pic>
                        <p:nvPicPr>
                          <p:cNvPr id="299" name="Google Shape;299;p28"/>
                          <p:cNvPicPr preferRelativeResize="0"/>
                          <p:nvPr/>
                        </p:nvPicPr>
                        <p:blipFill>
                          <a:blip r:embed="rId5">
                            <a:alphaModFix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786200" y="226325"/>
                            <a:ext cx="4405799" cy="6389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  <p:sp>
                        <p:nvSpPr>
                          <p:cNvPr id="300" name="Google Shape;300;p28"/>
                          <p:cNvSpPr/>
                          <p:nvPr/>
                        </p:nvSpPr>
                        <p:spPr>
                          <a:xfrm>
                            <a:off x="10016500" y="3732825"/>
                            <a:ext cx="469800" cy="74100"/>
                          </a:xfrm>
                          <a:prstGeom prst="rect">
                            <a:avLst/>
                          </a:prstGeom>
                          <a:solidFill>
                            <a:srgbClr val="438DD5"/>
                          </a:solidFill>
                          <a:ln w="9525" cap="flat" cmpd="sng">
                            <a:solidFill>
                              <a:srgbClr val="438DD5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ctr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01" name="Google Shape;301;p28"/>
                          <p:cNvSpPr/>
                          <p:nvPr/>
                        </p:nvSpPr>
                        <p:spPr>
                          <a:xfrm>
                            <a:off x="8556650" y="3816850"/>
                            <a:ext cx="469800" cy="74100"/>
                          </a:xfrm>
                          <a:prstGeom prst="rect">
                            <a:avLst/>
                          </a:prstGeom>
                          <a:solidFill>
                            <a:srgbClr val="438DD5"/>
                          </a:solidFill>
                          <a:ln w="9525" cap="flat" cmpd="sng">
                            <a:solidFill>
                              <a:srgbClr val="438DD5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ctr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02" name="Google Shape;302;p28"/>
                          <p:cNvSpPr/>
                          <p:nvPr/>
                        </p:nvSpPr>
                        <p:spPr>
                          <a:xfrm>
                            <a:off x="8321450" y="2196200"/>
                            <a:ext cx="469800" cy="74100"/>
                          </a:xfrm>
                          <a:prstGeom prst="rect">
                            <a:avLst/>
                          </a:prstGeom>
                          <a:solidFill>
                            <a:srgbClr val="438DD5"/>
                          </a:solidFill>
                          <a:ln w="9525" cap="flat" cmpd="sng">
                            <a:solidFill>
                              <a:srgbClr val="438DD5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ctr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03" name="Google Shape;303;p28"/>
                          <p:cNvSpPr/>
                          <p:nvPr/>
                        </p:nvSpPr>
                        <p:spPr>
                          <a:xfrm>
                            <a:off x="8321450" y="5004050"/>
                            <a:ext cx="469800" cy="74100"/>
                          </a:xfrm>
                          <a:prstGeom prst="rect">
                            <a:avLst/>
                          </a:prstGeom>
                          <a:solidFill>
                            <a:srgbClr val="438DD5"/>
                          </a:solidFill>
                          <a:ln w="9525" cap="flat" cmpd="sng">
                            <a:solidFill>
                              <a:srgbClr val="438DD5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ctr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04" name="Google Shape;304;p28"/>
                          <p:cNvSpPr/>
                          <p:nvPr/>
                        </p:nvSpPr>
                        <p:spPr>
                          <a:xfrm>
                            <a:off x="9970475" y="4857525"/>
                            <a:ext cx="469800" cy="74100"/>
                          </a:xfrm>
                          <a:prstGeom prst="rect">
                            <a:avLst/>
                          </a:prstGeom>
                          <a:solidFill>
                            <a:srgbClr val="438DD5"/>
                          </a:solidFill>
                          <a:ln w="9525" cap="flat" cmpd="sng">
                            <a:solidFill>
                              <a:srgbClr val="438DD5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ctr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05" name="Google Shape;305;p28"/>
                          <p:cNvSpPr/>
                          <p:nvPr/>
                        </p:nvSpPr>
                        <p:spPr>
                          <a:xfrm>
                            <a:off x="9941450" y="5914975"/>
                            <a:ext cx="469800" cy="74100"/>
                          </a:xfrm>
                          <a:prstGeom prst="rect">
                            <a:avLst/>
                          </a:prstGeom>
                          <a:solidFill>
                            <a:srgbClr val="438DD5"/>
                          </a:solidFill>
                          <a:ln w="9525" cap="flat" cmpd="sng">
                            <a:solidFill>
                              <a:srgbClr val="438DD5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ctr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06" name="Google Shape;306;p28"/>
                          <p:cNvSpPr/>
                          <p:nvPr/>
                        </p:nvSpPr>
                        <p:spPr>
                          <a:xfrm>
                            <a:off x="11297875" y="6055025"/>
                            <a:ext cx="469800" cy="74100"/>
                          </a:xfrm>
                          <a:prstGeom prst="rect">
                            <a:avLst/>
                          </a:prstGeom>
                          <a:solidFill>
                            <a:srgbClr val="438DD5"/>
                          </a:solidFill>
                          <a:ln w="9525" cap="flat" cmpd="sng">
                            <a:solidFill>
                              <a:srgbClr val="438DD5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ctr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307" name="Google Shape;307;p28"/>
                        <p:cNvSpPr/>
                        <p:nvPr/>
                      </p:nvSpPr>
                      <p:spPr>
                        <a:xfrm>
                          <a:off x="9784525" y="6103600"/>
                          <a:ext cx="762600" cy="79500"/>
                        </a:xfrm>
                        <a:prstGeom prst="rect">
                          <a:avLst/>
                        </a:prstGeom>
                        <a:solidFill>
                          <a:srgbClr val="438DD5"/>
                        </a:solidFill>
                        <a:ln w="9525" cap="flat" cmpd="sng">
                          <a:solidFill>
                            <a:srgbClr val="438DD5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08" name="Google Shape;308;p28"/>
                      <p:cNvSpPr/>
                      <p:nvPr/>
                    </p:nvSpPr>
                    <p:spPr>
                      <a:xfrm>
                        <a:off x="8601925" y="1583525"/>
                        <a:ext cx="535800" cy="77100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09" name="Google Shape;309;p28"/>
                    <p:cNvSpPr/>
                    <p:nvPr/>
                  </p:nvSpPr>
                  <p:spPr>
                    <a:xfrm>
                      <a:off x="9831025" y="5047600"/>
                      <a:ext cx="773700" cy="89400"/>
                    </a:xfrm>
                    <a:prstGeom prst="rect">
                      <a:avLst/>
                    </a:prstGeom>
                    <a:solidFill>
                      <a:srgbClr val="438DD5"/>
                    </a:solidFill>
                    <a:ln w="9525" cap="flat" cmpd="sng">
                      <a:solidFill>
                        <a:srgbClr val="438DD5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10" name="Google Shape;310;p28"/>
                  <p:cNvSpPr/>
                  <p:nvPr/>
                </p:nvSpPr>
                <p:spPr>
                  <a:xfrm>
                    <a:off x="8832825" y="3119600"/>
                    <a:ext cx="338100" cy="81900"/>
                  </a:xfrm>
                  <a:prstGeom prst="rect">
                    <a:avLst/>
                  </a:prstGeom>
                  <a:solidFill>
                    <a:schemeClr val="lt1"/>
                  </a:soli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1" name="Google Shape;311;p28"/>
                <p:cNvSpPr/>
                <p:nvPr/>
              </p:nvSpPr>
              <p:spPr>
                <a:xfrm>
                  <a:off x="9822340" y="2273615"/>
                  <a:ext cx="392100" cy="86100"/>
                </a:xfrm>
                <a:prstGeom prst="rect">
                  <a:avLst/>
                </a:prstGeom>
                <a:solidFill>
                  <a:srgbClr val="08427B"/>
                </a:solidFill>
                <a:ln w="9525" cap="flat" cmpd="sng">
                  <a:solidFill>
                    <a:srgbClr val="08427B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2" name="Google Shape;312;p28"/>
              <p:cNvSpPr/>
              <p:nvPr/>
            </p:nvSpPr>
            <p:spPr>
              <a:xfrm>
                <a:off x="8345565" y="728765"/>
                <a:ext cx="392100" cy="86100"/>
              </a:xfrm>
              <a:prstGeom prst="rect">
                <a:avLst/>
              </a:prstGeom>
              <a:solidFill>
                <a:srgbClr val="08427B"/>
              </a:solidFill>
              <a:ln w="9525" cap="flat" cmpd="sng">
                <a:solidFill>
                  <a:srgbClr val="08427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3" name="Google Shape;313;p28"/>
            <p:cNvSpPr/>
            <p:nvPr/>
          </p:nvSpPr>
          <p:spPr>
            <a:xfrm>
              <a:off x="10165150" y="170926"/>
              <a:ext cx="562500" cy="127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Testing Strategy</a:t>
            </a:r>
            <a:endParaRPr/>
          </a:p>
        </p:txBody>
      </p:sp>
      <p:sp>
        <p:nvSpPr>
          <p:cNvPr id="320" name="Google Shape;320;p29"/>
          <p:cNvSpPr/>
          <p:nvPr/>
        </p:nvSpPr>
        <p:spPr>
          <a:xfrm>
            <a:off x="476250" y="1057275"/>
            <a:ext cx="11239500" cy="28575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781425"/>
            <a:ext cx="3329575" cy="17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9" descr="image.png"/>
          <p:cNvPicPr preferRelativeResize="0"/>
          <p:nvPr/>
        </p:nvPicPr>
        <p:blipFill rotWithShape="1">
          <a:blip r:embed="rId4">
            <a:alphaModFix/>
          </a:blip>
          <a:srcRect r="-4832"/>
          <a:stretch/>
        </p:blipFill>
        <p:spPr>
          <a:xfrm>
            <a:off x="476250" y="4388775"/>
            <a:ext cx="3767075" cy="17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781425"/>
            <a:ext cx="3329575" cy="17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4388775"/>
            <a:ext cx="3329575" cy="17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15750" y="1781425"/>
            <a:ext cx="3329575" cy="17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15750" y="4388775"/>
            <a:ext cx="3329575" cy="178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305225" y="1884400"/>
            <a:ext cx="3552600" cy="12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Functional Testing</a:t>
            </a:r>
            <a:endParaRPr sz="23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491700" y="2579475"/>
            <a:ext cx="32049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Test core behaviours such as managing apps, setting schedules, etc.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460488" y="1884400"/>
            <a:ext cx="3552600" cy="12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UI Testing</a:t>
            </a:r>
            <a:endParaRPr sz="23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8506525" y="1884400"/>
            <a:ext cx="3552600" cy="12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Integration Testing</a:t>
            </a:r>
            <a:endParaRPr sz="23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364738" y="4465425"/>
            <a:ext cx="3552600" cy="12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Performance Testing</a:t>
            </a:r>
            <a:endParaRPr sz="23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32" name="Google Shape;332;p29"/>
          <p:cNvSpPr txBox="1"/>
          <p:nvPr/>
        </p:nvSpPr>
        <p:spPr>
          <a:xfrm>
            <a:off x="4434488" y="4465425"/>
            <a:ext cx="3552600" cy="12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Security Testing</a:t>
            </a:r>
            <a:endParaRPr sz="23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33" name="Google Shape;333;p29"/>
          <p:cNvSpPr txBox="1"/>
          <p:nvPr/>
        </p:nvSpPr>
        <p:spPr>
          <a:xfrm>
            <a:off x="8504250" y="4388775"/>
            <a:ext cx="3552600" cy="12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Compatibility Testing</a:t>
            </a:r>
            <a:endParaRPr sz="23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34" name="Google Shape;334;p29"/>
          <p:cNvSpPr txBox="1"/>
          <p:nvPr/>
        </p:nvSpPr>
        <p:spPr>
          <a:xfrm>
            <a:off x="4553725" y="2579475"/>
            <a:ext cx="32049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Ensure interfaces are simple and consistent and inputs are easy to perform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5" name="Google Shape;335;p29"/>
          <p:cNvSpPr txBox="1"/>
          <p:nvPr/>
        </p:nvSpPr>
        <p:spPr>
          <a:xfrm>
            <a:off x="8777000" y="2579475"/>
            <a:ext cx="32049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Ensure consistent communication between the app and servers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361825" y="5047500"/>
            <a:ext cx="38157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Examine the Responsiveness.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Latency: app blocking within 100ms.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Stress test: forcefully closing launcher 15 time in 1min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29"/>
          <p:cNvSpPr txBox="1"/>
          <p:nvPr/>
        </p:nvSpPr>
        <p:spPr>
          <a:xfrm>
            <a:off x="4608338" y="5147625"/>
            <a:ext cx="32049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Ensure app blocking and PIN access are tamper resistant. Also ensure private logs are not leaked.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8725000" y="5147625"/>
            <a:ext cx="32049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Test the app on multiple devices of varying screen size and age</a:t>
            </a:r>
            <a:endParaRPr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1392" y="2038118"/>
            <a:ext cx="249538" cy="2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22492" y="2038118"/>
            <a:ext cx="249538" cy="2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76617" y="2038118"/>
            <a:ext cx="249538" cy="2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26216" y="4539735"/>
            <a:ext cx="249538" cy="2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93344" y="4623477"/>
            <a:ext cx="249538" cy="2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7189" y="4602543"/>
            <a:ext cx="249538" cy="24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75" y="258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0"/>
          <p:cNvSpPr txBox="1"/>
          <p:nvPr/>
        </p:nvSpPr>
        <p:spPr>
          <a:xfrm>
            <a:off x="476250" y="476250"/>
            <a:ext cx="1171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D3748"/>
                </a:solidFill>
                <a:latin typeface="Fredoka SemiBold"/>
                <a:ea typeface="Fredoka SemiBold"/>
                <a:cs typeface="Fredoka SemiBold"/>
                <a:sym typeface="Fredoka SemiBold"/>
              </a:rPr>
              <a:t>Kidzy Vision</a:t>
            </a:r>
            <a:endParaRPr/>
          </a:p>
        </p:txBody>
      </p:sp>
      <p:sp>
        <p:nvSpPr>
          <p:cNvPr id="351" name="Google Shape;351;p30"/>
          <p:cNvSpPr/>
          <p:nvPr/>
        </p:nvSpPr>
        <p:spPr>
          <a:xfrm>
            <a:off x="476250" y="1057275"/>
            <a:ext cx="11239500" cy="285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025" y="2966450"/>
            <a:ext cx="3069775" cy="4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9625" y="2935800"/>
            <a:ext cx="3276650" cy="4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12975" y="2988000"/>
            <a:ext cx="2870425" cy="48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476238" y="2875000"/>
            <a:ext cx="3552600" cy="1235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Multi Device Expansion</a:t>
            </a:r>
            <a:endParaRPr sz="23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4319225" y="2875000"/>
            <a:ext cx="3601200" cy="1235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SmartWatch</a:t>
            </a:r>
            <a:r>
              <a:rPr lang="en-US" sz="2300" dirty="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Integration</a:t>
            </a:r>
            <a:endParaRPr sz="2300" dirty="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357" name="Google Shape;357;p30"/>
          <p:cNvSpPr txBox="1"/>
          <p:nvPr/>
        </p:nvSpPr>
        <p:spPr>
          <a:xfrm>
            <a:off x="8506525" y="2875000"/>
            <a:ext cx="3465000" cy="1235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Advanced AI Models</a:t>
            </a:r>
            <a:endParaRPr sz="23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358" name="Google Shape;35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2299" y="3039542"/>
            <a:ext cx="217725" cy="2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8115" y="3039542"/>
            <a:ext cx="217725" cy="2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1465" y="3039542"/>
            <a:ext cx="217725" cy="2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/>
          <p:nvPr/>
        </p:nvSpPr>
        <p:spPr>
          <a:xfrm>
            <a:off x="652425" y="3525650"/>
            <a:ext cx="3069900" cy="28500"/>
          </a:xfrm>
          <a:prstGeom prst="rect">
            <a:avLst/>
          </a:prstGeom>
          <a:solidFill>
            <a:srgbClr val="13BA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4629900" y="3525650"/>
            <a:ext cx="3069900" cy="28500"/>
          </a:xfrm>
          <a:prstGeom prst="rect">
            <a:avLst/>
          </a:prstGeom>
          <a:solidFill>
            <a:srgbClr val="13BA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8607375" y="3525650"/>
            <a:ext cx="3069900" cy="28500"/>
          </a:xfrm>
          <a:prstGeom prst="rect">
            <a:avLst/>
          </a:prstGeom>
          <a:solidFill>
            <a:srgbClr val="13BA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75" y="69210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 txBox="1"/>
          <p:nvPr/>
        </p:nvSpPr>
        <p:spPr>
          <a:xfrm>
            <a:off x="4370784" y="1738525"/>
            <a:ext cx="345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748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/>
          </a:p>
        </p:txBody>
      </p:sp>
      <p:sp>
        <p:nvSpPr>
          <p:cNvPr id="371" name="Google Shape;371;p31"/>
          <p:cNvSpPr txBox="1"/>
          <p:nvPr/>
        </p:nvSpPr>
        <p:spPr>
          <a:xfrm>
            <a:off x="4452925" y="5635325"/>
            <a:ext cx="3286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718096"/>
                </a:solidFill>
                <a:latin typeface="Nunito"/>
                <a:ea typeface="Nunito"/>
                <a:cs typeface="Nunito"/>
                <a:sym typeface="Nunito"/>
              </a:rPr>
              <a:t>Any questions about Kidzy?</a:t>
            </a:r>
            <a:endParaRPr/>
          </a:p>
        </p:txBody>
      </p:sp>
      <p:sp>
        <p:nvSpPr>
          <p:cNvPr id="372" name="Google Shape;372;p31"/>
          <p:cNvSpPr txBox="1"/>
          <p:nvPr/>
        </p:nvSpPr>
        <p:spPr>
          <a:xfrm>
            <a:off x="4265025" y="2472875"/>
            <a:ext cx="37977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718096"/>
                </a:solidFill>
                <a:latin typeface="Nunito"/>
                <a:ea typeface="Nunito"/>
                <a:cs typeface="Nunito"/>
                <a:sym typeface="Nunito"/>
              </a:rPr>
              <a:t>Ammar Alamri :         2339570</a:t>
            </a:r>
            <a:endParaRPr sz="2100">
              <a:solidFill>
                <a:srgbClr val="71809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718096"/>
                </a:solidFill>
                <a:latin typeface="Nunito"/>
                <a:ea typeface="Nunito"/>
                <a:cs typeface="Nunito"/>
                <a:sym typeface="Nunito"/>
              </a:rPr>
              <a:t>Ahmad Alsaedi :        2339836</a:t>
            </a:r>
            <a:endParaRPr sz="2100">
              <a:solidFill>
                <a:srgbClr val="71809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718096"/>
                </a:solidFill>
                <a:latin typeface="Nunito"/>
                <a:ea typeface="Nunito"/>
                <a:cs typeface="Nunito"/>
                <a:sym typeface="Nunito"/>
              </a:rPr>
              <a:t>Hussain Abulnaja :    2340240</a:t>
            </a:r>
            <a:endParaRPr sz="2100">
              <a:solidFill>
                <a:srgbClr val="71809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718096"/>
                </a:solidFill>
                <a:latin typeface="Nunito"/>
                <a:ea typeface="Nunito"/>
                <a:cs typeface="Nunito"/>
                <a:sym typeface="Nunito"/>
              </a:rPr>
              <a:t>Majed Alsulami :        2339658</a:t>
            </a:r>
            <a:endParaRPr sz="2100">
              <a:solidFill>
                <a:srgbClr val="718096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718096"/>
                </a:solidFill>
                <a:latin typeface="Nunito"/>
                <a:ea typeface="Nunito"/>
                <a:cs typeface="Nunito"/>
                <a:sym typeface="Nunito"/>
              </a:rPr>
              <a:t>Sultan Alasmi :           2339663</a:t>
            </a:r>
            <a:endParaRPr sz="2100">
              <a:solidFill>
                <a:srgbClr val="71809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Widescreen</PresentationFormat>
  <Paragraphs>94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Calibri</vt:lpstr>
      <vt:lpstr>Nunito Medium</vt:lpstr>
      <vt:lpstr>Nunito</vt:lpstr>
      <vt:lpstr>Fredoka</vt:lpstr>
      <vt:lpstr>Fredoka SemiBold</vt:lpstr>
      <vt:lpstr>Nunito ExtraBold</vt:lpstr>
      <vt:lpstr>Arial</vt:lpstr>
      <vt:lpstr>Nunito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AMMAR HANI SULAIMAN ALAMRI</cp:lastModifiedBy>
  <cp:revision>1</cp:revision>
  <dcterms:modified xsi:type="dcterms:W3CDTF">2025-12-07T02:00:50Z</dcterms:modified>
</cp:coreProperties>
</file>